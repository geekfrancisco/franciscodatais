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986299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Panorama </a:t>
            </a:r>
            <a:r>
              <a:rPr dirty="0" err="1"/>
              <a:t>Executivo</a:t>
            </a:r>
            <a:r>
              <a:rPr dirty="0"/>
              <a:t> 2025: </a:t>
            </a:r>
            <a:r>
              <a:rPr dirty="0" err="1"/>
              <a:t>Análise</a:t>
            </a:r>
            <a:r>
              <a:rPr dirty="0"/>
              <a:t> de </a:t>
            </a:r>
            <a:r>
              <a:rPr lang="pt-BR" dirty="0"/>
              <a:t>Backlog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000000" y="288000"/>
            <a:ext cx="2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  <a:latin typeface="Arial"/>
              </a:defRPr>
            </a:pPr>
            <a:r>
              <a:t>Consolidado 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260000"/>
            <a:ext cx="3240000" cy="2160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2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6464"/>
                </a:solidFill>
              </a:defRPr>
            </a:pPr>
            <a:r>
              <a:t>VOLUME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28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rPr dirty="0"/>
              <a:t>1153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700000"/>
            <a:ext cx="2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Chamados Únicos</a:t>
            </a:r>
            <a:br/>
            <a:r>
              <a:t>(Deduplicados)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0" y="1260000"/>
            <a:ext cx="3600000" cy="2160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40000" y="1440000"/>
            <a:ext cx="32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6464"/>
                </a:solidFill>
              </a:defRPr>
            </a:pPr>
            <a:r>
              <a:t>POR DEPARTAMENTO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00" y="2232000"/>
            <a:ext cx="3240000" cy="108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40000" y="2232000"/>
            <a:ext cx="2485080" cy="10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40000" y="1980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ITI: 884 (76.7%)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0000" y="2951999"/>
            <a:ext cx="3240000" cy="108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40000" y="2951999"/>
            <a:ext cx="754920" cy="10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40000" y="2700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SPN: 269 (23.3%)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0" y="1260000"/>
            <a:ext cx="3888000" cy="2160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0000" y="1440000"/>
            <a:ext cx="32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6464"/>
                </a:solidFill>
              </a:defRPr>
            </a:pPr>
            <a:r>
              <a:t>TOP 3 MESES (PICOS)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0000" y="1980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0000"/>
                </a:solidFill>
              </a:defRPr>
            </a:pPr>
            <a:r>
              <a:t>• Setembro: 176 chamados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0000" y="2412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Novembro: 165 chamados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0000" y="2844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Agosto: 129 chamados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780000"/>
            <a:ext cx="11448000" cy="1080000"/>
          </a:xfrm>
          <a:prstGeom prst="rect">
            <a:avLst/>
          </a:prstGeom>
          <a:solidFill>
            <a:srgbClr val="E6F0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0000" y="3888000"/>
            <a:ext cx="1117346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dirty="0"/>
              <a:t>INSIGHT ESTRATÉGICO: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A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apresent</a:t>
            </a:r>
            <a:r>
              <a:rPr lang="pt-BR" dirty="0"/>
              <a:t>ou</a:t>
            </a:r>
            <a:r>
              <a:rPr dirty="0"/>
              <a:t> forte </a:t>
            </a:r>
            <a:r>
              <a:rPr dirty="0" err="1"/>
              <a:t>concentração</a:t>
            </a:r>
            <a:r>
              <a:rPr dirty="0"/>
              <a:t> no 2º </a:t>
            </a:r>
            <a:r>
              <a:rPr dirty="0" err="1"/>
              <a:t>Semestre</a:t>
            </a:r>
            <a:r>
              <a:rPr dirty="0"/>
              <a:t> (</a:t>
            </a:r>
            <a:r>
              <a:rPr dirty="0" err="1"/>
              <a:t>Setembro</a:t>
            </a:r>
            <a:r>
              <a:rPr dirty="0"/>
              <a:t>/</a:t>
            </a:r>
            <a:r>
              <a:rPr dirty="0" err="1"/>
              <a:t>Novembro</a:t>
            </a:r>
            <a:r>
              <a:rPr dirty="0"/>
              <a:t>), </a:t>
            </a:r>
            <a:r>
              <a:rPr dirty="0" err="1"/>
              <a:t>indicando</a:t>
            </a:r>
            <a:r>
              <a:rPr dirty="0"/>
              <a:t> </a:t>
            </a:r>
            <a:r>
              <a:rPr dirty="0" err="1"/>
              <a:t>necessidade</a:t>
            </a:r>
            <a:r>
              <a:rPr dirty="0"/>
              <a:t> de </a:t>
            </a:r>
            <a:r>
              <a:rPr dirty="0" err="1"/>
              <a:t>planejamento</a:t>
            </a:r>
            <a:r>
              <a:rPr dirty="0"/>
              <a:t> </a:t>
            </a:r>
            <a:r>
              <a:rPr dirty="0" err="1"/>
              <a:t>preventivo</a:t>
            </a:r>
            <a:r>
              <a:rPr dirty="0"/>
              <a:t> </a:t>
            </a:r>
            <a:endParaRPr lang="pt-BR" dirty="0"/>
          </a:p>
          <a:p>
            <a:pPr>
              <a:spcBef>
                <a:spcPts val="600"/>
              </a:spcBef>
              <a:defRPr sz="1400"/>
            </a:pPr>
            <a:r>
              <a:rPr dirty="0"/>
              <a:t>para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período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2026.</a:t>
            </a:r>
            <a:r>
              <a:rPr lang="pt-BR" dirty="0"/>
              <a:t> </a:t>
            </a:r>
            <a:r>
              <a:rPr dirty="0"/>
              <a:t> O </a:t>
            </a:r>
            <a:r>
              <a:rPr dirty="0" err="1"/>
              <a:t>setor</a:t>
            </a:r>
            <a:r>
              <a:rPr dirty="0"/>
              <a:t> de Infraestrutura (ITI) </a:t>
            </a:r>
            <a:r>
              <a:rPr dirty="0" err="1"/>
              <a:t>absorve</a:t>
            </a:r>
            <a:r>
              <a:rPr dirty="0"/>
              <a:t> 3/4 de </a:t>
            </a:r>
            <a:r>
              <a:rPr dirty="0" err="1"/>
              <a:t>toda</a:t>
            </a:r>
            <a:r>
              <a:rPr dirty="0"/>
              <a:t> a carga de </a:t>
            </a:r>
            <a:r>
              <a:rPr dirty="0" err="1"/>
              <a:t>trabalho</a:t>
            </a:r>
            <a:r>
              <a:rPr dirty="0"/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300000"/>
            <a:ext cx="366799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rPr dirty="0"/>
              <a:t>Fonte: Base de Dados Backlog 2025 (</a:t>
            </a:r>
            <a:r>
              <a:rPr dirty="0" err="1"/>
              <a:t>Consolidado</a:t>
            </a:r>
            <a:r>
              <a:rPr dirty="0"/>
              <a:t> ) | </a:t>
            </a:r>
            <a:r>
              <a:rPr lang="pt-BR" dirty="0"/>
              <a:t>Francisco José Pereira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JOSE PEREIRA</cp:lastModifiedBy>
  <cp:revision>2</cp:revision>
  <dcterms:created xsi:type="dcterms:W3CDTF">2013-01-27T09:14:16Z</dcterms:created>
  <dcterms:modified xsi:type="dcterms:W3CDTF">2026-01-21T16:29:49Z</dcterms:modified>
  <cp:category/>
</cp:coreProperties>
</file>